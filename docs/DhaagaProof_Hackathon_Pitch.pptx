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95360" y="-365760"/>
            <a:ext cx="4389120" cy="7406640"/>
          </a:xfrm>
          <a:prstGeom prst="rect">
            <a:avLst/>
          </a:prstGeom>
          <a:solidFill>
            <a:srgbClr val="1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61120" y="457200"/>
            <a:ext cx="566928" cy="566928"/>
          </a:xfrm>
          <a:prstGeom prst="roundRect">
            <a:avLst>
              <a:gd name="adj" fmla="val 23000"/>
            </a:avLst>
          </a:prstGeom>
          <a:solidFill>
            <a:srgbClr val="C8F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85832" y="457200"/>
            <a:ext cx="566928" cy="566928"/>
          </a:xfrm>
          <a:prstGeom prst="roundRect">
            <a:avLst>
              <a:gd name="adj" fmla="val 23000"/>
            </a:avLst>
          </a:prstGeom>
          <a:solidFill>
            <a:srgbClr val="346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10544" y="457200"/>
            <a:ext cx="566928" cy="566928"/>
          </a:xfrm>
          <a:prstGeom prst="roundRect">
            <a:avLst>
              <a:gd name="adj" fmla="val 23000"/>
            </a:avLst>
          </a:prstGeom>
          <a:solidFill>
            <a:srgbClr val="346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0" y="2130552"/>
            <a:ext cx="566928" cy="566928"/>
          </a:xfrm>
          <a:prstGeom prst="roundRect">
            <a:avLst>
              <a:gd name="adj" fmla="val 23000"/>
            </a:avLst>
          </a:prstGeom>
          <a:solidFill>
            <a:srgbClr val="346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85832" y="2130552"/>
            <a:ext cx="566928" cy="566928"/>
          </a:xfrm>
          <a:prstGeom prst="roundRect">
            <a:avLst>
              <a:gd name="adj" fmla="val 23000"/>
            </a:avLst>
          </a:prstGeom>
          <a:solidFill>
            <a:srgbClr val="C8F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10544" y="2130552"/>
            <a:ext cx="566928" cy="566928"/>
          </a:xfrm>
          <a:prstGeom prst="roundRect">
            <a:avLst>
              <a:gd name="adj" fmla="val 23000"/>
            </a:avLst>
          </a:prstGeom>
          <a:solidFill>
            <a:srgbClr val="346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0" y="3803904"/>
            <a:ext cx="566928" cy="566928"/>
          </a:xfrm>
          <a:prstGeom prst="roundRect">
            <a:avLst>
              <a:gd name="adj" fmla="val 23000"/>
            </a:avLst>
          </a:prstGeom>
          <a:solidFill>
            <a:srgbClr val="346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85832" y="3803904"/>
            <a:ext cx="566928" cy="566928"/>
          </a:xfrm>
          <a:prstGeom prst="roundRect">
            <a:avLst>
              <a:gd name="adj" fmla="val 23000"/>
            </a:avLst>
          </a:prstGeom>
          <a:solidFill>
            <a:srgbClr val="346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10544" y="3803904"/>
            <a:ext cx="566928" cy="566928"/>
          </a:xfrm>
          <a:prstGeom prst="roundRect">
            <a:avLst>
              <a:gd name="adj" fmla="val 23000"/>
            </a:avLst>
          </a:prstGeom>
          <a:solidFill>
            <a:srgbClr val="C8F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5836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8F279"/>
                </a:solidFill>
                <a:latin typeface="Aptos"/>
              </a:defRPr>
            </a:pPr>
            <a:r>
              <a:t>✳  TECH4BHARAT / GAVS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00200"/>
            <a:ext cx="7315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5600" b="1">
                <a:solidFill>
                  <a:srgbClr val="FDFFFB"/>
                </a:solidFill>
                <a:latin typeface="Aptos"/>
              </a:defRPr>
            </a:pPr>
            <a:r>
              <a:t>DHAAGA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5600" b="1">
                <a:solidFill>
                  <a:srgbClr val="FDFFFB"/>
                </a:solidFill>
                <a:latin typeface="Aptos"/>
              </a:defRPr>
            </a:pPr>
            <a:r>
              <a:t>PROOF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059936"/>
            <a:ext cx="1051560" cy="45720"/>
          </a:xfrm>
          <a:prstGeom prst="rect">
            <a:avLst/>
          </a:prstGeom>
          <a:solidFill>
            <a:srgbClr val="C8F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443984"/>
            <a:ext cx="73152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FDFFFB"/>
                </a:solidFill>
                <a:latin typeface="Aptos"/>
              </a:defRPr>
            </a:pPr>
            <a:r>
              <a:t>Every order has a deadline.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FDFFFB"/>
                </a:solidFill>
                <a:latin typeface="Aptos"/>
              </a:defRPr>
            </a:pPr>
            <a:r>
              <a:t>Every worker deserves proof of fair pay.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62453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C8F279"/>
                </a:solidFill>
                <a:latin typeface="Aptos"/>
              </a:defRPr>
            </a:pPr>
            <a:r>
              <a:t>AGENTIC AI  •  CHALLENGE 8.1  •  WOMEN’S SHG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1A4E42"/>
                </a:solidFill>
                <a:latin typeface="Aptos"/>
              </a:defRPr>
            </a:pPr>
            <a:r>
              <a:t>DHAAGAPROOF  /  TECH4BHARAT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320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87E71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822960"/>
            <a:ext cx="347472" cy="36576"/>
          </a:xfrm>
          <a:prstGeom prst="rect">
            <a:avLst/>
          </a:prstGeom>
          <a:solidFill>
            <a:srgbClr val="1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024128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A4E42"/>
                </a:solidFill>
                <a:latin typeface="Aptos"/>
              </a:defRPr>
            </a:pPr>
            <a:r>
              <a:t>THE REAL-LIFE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10789920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092320"/>
                </a:solidFill>
                <a:latin typeface="Aptos"/>
              </a:defRPr>
            </a:pPr>
            <a:r>
              <a:t>The promise is simple. The process is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53796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87E71"/>
                </a:solidFill>
                <a:latin typeface="Aptos"/>
              </a:defRPr>
            </a:pPr>
            <a:r>
              <a:t>Prototype · fictional demo records · no banking integrations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3593592" cy="2587752"/>
          </a:xfrm>
          <a:prstGeom prst="roundRect">
            <a:avLst>
              <a:gd name="adj" fmla="val 7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81528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A4E4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39896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92320"/>
                </a:solidFill>
                <a:latin typeface="Aptos"/>
              </a:defRPr>
            </a:pPr>
            <a:r>
              <a:t>ORDER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15384"/>
            <a:ext cx="310896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687E71"/>
                </a:solidFill>
                <a:latin typeface="Aptos"/>
              </a:defRPr>
            </a:pPr>
            <a:r>
              <a:t>Members get work through verbal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2880360"/>
            <a:ext cx="3593592" cy="2587752"/>
          </a:xfrm>
          <a:prstGeom prst="roundRect">
            <a:avLst>
              <a:gd name="adj" fmla="val 7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3081528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A4E4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739896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92320"/>
                </a:solidFill>
                <a:latin typeface="Aptos"/>
              </a:defRPr>
            </a:pPr>
            <a:r>
              <a:t>QUALITY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4215384"/>
            <a:ext cx="310896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687E71"/>
                </a:solidFill>
                <a:latin typeface="Aptos"/>
              </a:defRPr>
            </a:pPr>
            <a:r>
              <a:t>Late checks create rejects and missed deadlines.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2880360"/>
            <a:ext cx="3593592" cy="2587752"/>
          </a:xfrm>
          <a:prstGeom prst="roundRect">
            <a:avLst>
              <a:gd name="adj" fmla="val 7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3081528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A4E4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3739896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92320"/>
                </a:solidFill>
                <a:latin typeface="Aptos"/>
              </a:defRPr>
            </a:pPr>
            <a:r>
              <a:t>TRUST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4215384"/>
            <a:ext cx="310896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687E71"/>
                </a:solidFill>
                <a:latin typeface="Aptos"/>
              </a:defRPr>
            </a:pPr>
            <a:r>
              <a:t>Members cannot independently verify fair payment.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C8F279"/>
                </a:solidFill>
                <a:latin typeface="Aptos"/>
              </a:defRPr>
            </a:pPr>
            <a:r>
              <a:t>DHAAGAPROOF  /  TECH4BHARAT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320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A2BCB0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822960"/>
            <a:ext cx="347472" cy="36576"/>
          </a:xfrm>
          <a:prstGeom prst="rect">
            <a:avLst/>
          </a:prstGeom>
          <a:solidFill>
            <a:srgbClr val="C8F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024128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C8F279"/>
                </a:solidFill>
                <a:latin typeface="Aptos"/>
              </a:defRPr>
            </a:pPr>
            <a:r>
              <a:t>ONE DIFFERENTIATING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10789920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FDFFFB"/>
                </a:solidFill>
                <a:latin typeface="Aptos"/>
              </a:defRPr>
            </a:pPr>
            <a:r>
              <a:t>Link every promise to a fairness receipt.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53796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2BCB0"/>
                </a:solidFill>
                <a:latin typeface="Aptos"/>
              </a:defRPr>
            </a:pPr>
            <a:r>
              <a:t>Prototype · fictional demo records · no banking integrations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26080"/>
            <a:ext cx="2697480" cy="2185416"/>
          </a:xfrm>
          <a:prstGeom prst="roundRect">
            <a:avLst>
              <a:gd name="adj" fmla="val 7000"/>
            </a:avLst>
          </a:prstGeom>
          <a:solidFill>
            <a:srgbClr val="1E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502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C8F27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94176"/>
            <a:ext cx="235915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FDFFFB"/>
                </a:solidFill>
                <a:latin typeface="Aptos"/>
              </a:defRPr>
            </a:pPr>
            <a:r>
              <a:t>QUOTE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42816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2BCB0"/>
                </a:solidFill>
                <a:latin typeface="Aptos"/>
              </a:defRPr>
            </a:pPr>
            <a:r>
              <a:t>True costs +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666744"/>
            <a:ext cx="384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C8F27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1296" y="2926080"/>
            <a:ext cx="2697480" cy="2185416"/>
          </a:xfrm>
          <a:prstGeom prst="roundRect">
            <a:avLst>
              <a:gd name="adj" fmla="val 7000"/>
            </a:avLst>
          </a:prstGeom>
          <a:solidFill>
            <a:srgbClr val="1E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3118104"/>
            <a:ext cx="502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C8F27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694176"/>
            <a:ext cx="235915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FDFFFB"/>
                </a:solidFill>
                <a:latin typeface="Aptos"/>
              </a:defRPr>
            </a:pPr>
            <a:r>
              <a:t>ALLOCATE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4242816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2BCB0"/>
                </a:solidFill>
                <a:latin typeface="Aptos"/>
              </a:defRPr>
            </a:pPr>
            <a:r>
              <a:t>Consent, capacity, 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3666744"/>
            <a:ext cx="384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C8F27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2926080"/>
            <a:ext cx="2697480" cy="2185416"/>
          </a:xfrm>
          <a:prstGeom prst="roundRect">
            <a:avLst>
              <a:gd name="adj" fmla="val 7000"/>
            </a:avLst>
          </a:prstGeom>
          <a:solidFill>
            <a:srgbClr val="1E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3118104"/>
            <a:ext cx="502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C8F27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3694176"/>
            <a:ext cx="235915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FDFFFB"/>
                </a:solidFill>
                <a:latin typeface="Aptos"/>
              </a:defRPr>
            </a:pPr>
            <a:r>
              <a:t>ACCEPT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4242816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2BCB0"/>
                </a:solidFill>
                <a:latin typeface="Aptos"/>
              </a:defRPr>
            </a:pPr>
            <a:r>
              <a:t>Human-check finished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6" y="3666744"/>
            <a:ext cx="384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C8F27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926080"/>
            <a:ext cx="2697480" cy="2185416"/>
          </a:xfrm>
          <a:prstGeom prst="roundRect">
            <a:avLst>
              <a:gd name="adj" fmla="val 7000"/>
            </a:avLst>
          </a:prstGeom>
          <a:solidFill>
            <a:srgbClr val="1E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0616" y="3118104"/>
            <a:ext cx="502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C8F27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0616" y="3694176"/>
            <a:ext cx="235915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FDFFFB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4242816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2BCB0"/>
                </a:solidFill>
                <a:latin typeface="Aptos"/>
              </a:defRPr>
            </a:pPr>
            <a:r>
              <a:t>Member wages +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1A4E42"/>
                </a:solidFill>
                <a:latin typeface="Aptos"/>
              </a:defRPr>
            </a:pPr>
            <a:r>
              <a:t>DHAAGAPROOF  /  TECH4BHARAT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320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87E71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822960"/>
            <a:ext cx="347472" cy="36576"/>
          </a:xfrm>
          <a:prstGeom prst="rect">
            <a:avLst/>
          </a:prstGeom>
          <a:solidFill>
            <a:srgbClr val="1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024128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A4E42"/>
                </a:solidFill>
                <a:latin typeface="Aptos"/>
              </a:defRPr>
            </a:pPr>
            <a:r>
              <a:t>WORKING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10789920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092320"/>
                </a:solidFill>
                <a:latin typeface="Aptos"/>
              </a:defRPr>
            </a:pPr>
            <a:r>
              <a:t>It is not a chatbot. It is an operating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53796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87E71"/>
                </a:solidFill>
                <a:latin typeface="Aptos"/>
              </a:defRPr>
            </a:pPr>
            <a:r>
              <a:t>Prototype · fictional demo records · no banking integrations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34056"/>
            <a:ext cx="3593592" cy="1344168"/>
          </a:xfrm>
          <a:prstGeom prst="roundRect">
            <a:avLst>
              <a:gd name="adj" fmla="val 9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944368"/>
            <a:ext cx="323697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4E42"/>
                </a:solidFill>
                <a:latin typeface="Aptos"/>
              </a:defRPr>
            </a:pPr>
            <a:r>
              <a:t>01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38144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87E71"/>
                </a:solidFill>
                <a:latin typeface="Aptos"/>
              </a:defRPr>
            </a:pPr>
            <a:r>
              <a:t>Order size, due dates, worker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734056"/>
            <a:ext cx="3593592" cy="1344168"/>
          </a:xfrm>
          <a:prstGeom prst="roundRect">
            <a:avLst>
              <a:gd name="adj" fmla="val 9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944368"/>
            <a:ext cx="323697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4E42"/>
                </a:solidFill>
                <a:latin typeface="Aptos"/>
              </a:defRPr>
            </a:pPr>
            <a:r>
              <a:t>02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438144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87E71"/>
                </a:solidFill>
                <a:latin typeface="Aptos"/>
              </a:defRPr>
            </a:pPr>
            <a:r>
              <a:t>Margin, quality and delivery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734056"/>
            <a:ext cx="3593592" cy="1344168"/>
          </a:xfrm>
          <a:prstGeom prst="roundRect">
            <a:avLst>
              <a:gd name="adj" fmla="val 9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2944368"/>
            <a:ext cx="323697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4E42"/>
                </a:solidFill>
                <a:latin typeface="Aptos"/>
              </a:defRPr>
            </a:pPr>
            <a:r>
              <a:t>03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3438144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87E71"/>
                </a:solidFill>
                <a:latin typeface="Aptos"/>
              </a:defRPr>
            </a:pPr>
            <a:r>
              <a:t>Explainable workload and wage options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15968"/>
            <a:ext cx="3593592" cy="1344168"/>
          </a:xfrm>
          <a:prstGeom prst="roundRect">
            <a:avLst>
              <a:gd name="adj" fmla="val 9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526280"/>
            <a:ext cx="323697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4E42"/>
                </a:solidFill>
                <a:latin typeface="Aptos"/>
              </a:defRPr>
            </a:pPr>
            <a:r>
              <a:t>04 Ask permission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020056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87E71"/>
                </a:solidFill>
                <a:latin typeface="Aptos"/>
              </a:defRPr>
            </a:pPr>
            <a:r>
              <a:t>Group confirms work and payables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315968"/>
            <a:ext cx="3593592" cy="1344168"/>
          </a:xfrm>
          <a:prstGeom prst="roundRect">
            <a:avLst>
              <a:gd name="adj" fmla="val 9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4526280"/>
            <a:ext cx="323697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4E42"/>
                </a:solidFill>
                <a:latin typeface="Aptos"/>
              </a:defRPr>
            </a:pPr>
            <a:r>
              <a:t>05 Log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020056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87E71"/>
                </a:solidFill>
                <a:latin typeface="Aptos"/>
              </a:defRPr>
            </a:pPr>
            <a:r>
              <a:t>Linked SHA-256 audit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C8F279"/>
                </a:solidFill>
                <a:latin typeface="Aptos"/>
              </a:defRPr>
            </a:pPr>
            <a:r>
              <a:t>DHAAGAPROOF  /  TECH4BHARAT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320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A2BCB0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822960"/>
            <a:ext cx="347472" cy="36576"/>
          </a:xfrm>
          <a:prstGeom prst="rect">
            <a:avLst/>
          </a:prstGeom>
          <a:solidFill>
            <a:srgbClr val="C8F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024128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C8F279"/>
                </a:solidFill>
                <a:latin typeface="Aptos"/>
              </a:defRPr>
            </a:pPr>
            <a:r>
              <a:t>TECHNICAL SUBSTANCE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10789920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FDFFFB"/>
                </a:solidFill>
                <a:latin typeface="Aptos"/>
              </a:defRPr>
            </a:pPr>
            <a:r>
              <a:t>Transparent by design. Local by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53796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2BCB0"/>
                </a:solidFill>
                <a:latin typeface="Aptos"/>
              </a:defRPr>
            </a:pPr>
            <a:r>
              <a:t>Prototype · fictional demo records · no banking integrations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862072"/>
            <a:ext cx="2706624" cy="1993392"/>
          </a:xfrm>
          <a:prstGeom prst="roundRect">
            <a:avLst>
              <a:gd name="adj" fmla="val 9000"/>
            </a:avLst>
          </a:prstGeom>
          <a:solidFill>
            <a:srgbClr val="1D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27248"/>
            <a:ext cx="23774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C8F279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58184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DFFFB"/>
                </a:solidFill>
                <a:latin typeface="Aptos"/>
              </a:defRPr>
            </a:pPr>
            <a:r>
              <a:t>Responsive UI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DFFFB"/>
                </a:solidFill>
                <a:latin typeface="Aptos"/>
              </a:defRPr>
            </a:pPr>
            <a:r>
              <a:t>Hindi speech output*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639312"/>
            <a:ext cx="3474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C8F27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5304" y="2862072"/>
            <a:ext cx="2706624" cy="1993392"/>
          </a:xfrm>
          <a:prstGeom prst="roundRect">
            <a:avLst>
              <a:gd name="adj" fmla="val 9000"/>
            </a:avLst>
          </a:prstGeom>
          <a:solidFill>
            <a:srgbClr val="1D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3127248"/>
            <a:ext cx="23774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C8F279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758184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DFFFB"/>
                </a:solidFill>
                <a:latin typeface="Aptos"/>
              </a:defRPr>
            </a:pPr>
            <a:r>
              <a:t>Python HTTP server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DFFFB"/>
                </a:solidFill>
                <a:latin typeface="Aptos"/>
              </a:defRPr>
            </a:pPr>
            <a:r>
              <a:t>Human approval 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3639312"/>
            <a:ext cx="3474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C8F27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3096" y="2862072"/>
            <a:ext cx="2706624" cy="1993392"/>
          </a:xfrm>
          <a:prstGeom prst="roundRect">
            <a:avLst>
              <a:gd name="adj" fmla="val 9000"/>
            </a:avLst>
          </a:prstGeom>
          <a:solidFill>
            <a:srgbClr val="1D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3127248"/>
            <a:ext cx="23774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C8F279"/>
                </a:solidFill>
                <a:latin typeface="Aptos"/>
              </a:defRPr>
            </a:pPr>
            <a: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3758184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DFFFB"/>
                </a:solidFill>
                <a:latin typeface="Aptos"/>
              </a:defRPr>
            </a:pPr>
            <a:r>
              <a:t>Constraint planner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DFFFB"/>
                </a:solidFill>
                <a:latin typeface="Aptos"/>
              </a:defRPr>
            </a:pPr>
            <a:r>
              <a:t>Smoothed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4" y="3639312"/>
            <a:ext cx="3474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C8F27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90888" y="2862072"/>
            <a:ext cx="2706624" cy="1993392"/>
          </a:xfrm>
          <a:prstGeom prst="roundRect">
            <a:avLst>
              <a:gd name="adj" fmla="val 9000"/>
            </a:avLst>
          </a:prstGeom>
          <a:solidFill>
            <a:srgbClr val="1D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6336" y="3127248"/>
            <a:ext cx="23774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C8F279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3758184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DFFFB"/>
                </a:solidFill>
                <a:latin typeface="Aptos"/>
              </a:defRPr>
            </a:pPr>
            <a:r>
              <a:t>SQLite + audit chain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DFFFB"/>
                </a:solidFill>
                <a:latin typeface="Aptos"/>
              </a:defRPr>
            </a:pPr>
            <a:r>
              <a:t>Worker acceptance ledger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248656"/>
            <a:ext cx="1090879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A2BCB0"/>
                </a:solidFill>
                <a:latin typeface="Aptos"/>
              </a:defRPr>
            </a:pPr>
            <a:r>
              <a:t>Optional local Ollama model for natural-language explanations; rules work without an LLM.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1A4E42"/>
                </a:solidFill>
                <a:latin typeface="Aptos"/>
              </a:defRPr>
            </a:pPr>
            <a:r>
              <a:t>DHAAGAPROOF  /  TECH4BHARAT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320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87E71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822960"/>
            <a:ext cx="347472" cy="36576"/>
          </a:xfrm>
          <a:prstGeom prst="rect">
            <a:avLst/>
          </a:prstGeom>
          <a:solidFill>
            <a:srgbClr val="1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024128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A4E42"/>
                </a:solidFill>
                <a:latin typeface="Aptos"/>
              </a:defRPr>
            </a:pPr>
            <a:r>
              <a:t>LIVE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10789920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092320"/>
                </a:solidFill>
                <a:latin typeface="Aptos"/>
              </a:defRPr>
            </a:pPr>
            <a:r>
              <a:t>Four clicks to understand the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53796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87E71"/>
                </a:solidFill>
                <a:latin typeface="Aptos"/>
              </a:defRPr>
            </a:pPr>
            <a:r>
              <a:t>Prototype · fictional demo records · no banking integrations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61488"/>
            <a:ext cx="5458968" cy="1307592"/>
          </a:xfrm>
          <a:prstGeom prst="roundRect">
            <a:avLst>
              <a:gd name="adj" fmla="val 6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92608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4E4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935224"/>
            <a:ext cx="42976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92320"/>
                </a:solidFill>
                <a:latin typeface="Aptos"/>
              </a:defRPr>
            </a:pPr>
            <a:r>
              <a:t>Open a draft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346557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87E71"/>
                </a:solidFill>
                <a:latin typeface="Aptos"/>
              </a:defRPr>
            </a:pPr>
            <a:r>
              <a:t>Check unit-cost and sustainable pricing.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61488"/>
            <a:ext cx="5458968" cy="1307592"/>
          </a:xfrm>
          <a:prstGeom prst="roundRect">
            <a:avLst>
              <a:gd name="adj" fmla="val 6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4E4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1" y="2935224"/>
            <a:ext cx="42976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92320"/>
                </a:solidFill>
                <a:latin typeface="Aptos"/>
              </a:defRPr>
            </a:pPr>
            <a:r>
              <a:t>Preview allocation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346557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87E71"/>
                </a:solidFill>
                <a:latin typeface="Aptos"/>
              </a:defRPr>
            </a:pPr>
            <a:r>
              <a:t>See work split, capacity and member reasons.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15968"/>
            <a:ext cx="5458968" cy="1307592"/>
          </a:xfrm>
          <a:prstGeom prst="roundRect">
            <a:avLst>
              <a:gd name="adj" fmla="val 6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480559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4E4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4489704"/>
            <a:ext cx="42976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92320"/>
                </a:solidFill>
                <a:latin typeface="Aptos"/>
              </a:defRPr>
            </a:pPr>
            <a:r>
              <a:t>Record quality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502005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87E71"/>
                </a:solidFill>
                <a:latin typeface="Aptos"/>
              </a:defRPr>
            </a:pPr>
            <a:r>
              <a:t>Accepted units count toward wages.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315968"/>
            <a:ext cx="5458968" cy="1307592"/>
          </a:xfrm>
          <a:prstGeom prst="roundRect">
            <a:avLst>
              <a:gd name="adj" fmla="val 6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480559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4E4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4489704"/>
            <a:ext cx="42976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92320"/>
                </a:solidFill>
                <a:latin typeface="Aptos"/>
              </a:defRPr>
            </a:pPr>
            <a:r>
              <a:t>Approve ledger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502005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87E71"/>
                </a:solidFill>
                <a:latin typeface="Aptos"/>
              </a:defRPr>
            </a:pPr>
            <a:r>
              <a:t>Human sign-off recorded; no money moved.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1A4E42"/>
                </a:solidFill>
                <a:latin typeface="Aptos"/>
              </a:defRPr>
            </a:pPr>
            <a:r>
              <a:t>DHAAGAPROOF  /  TECH4BHARAT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320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687E71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822960"/>
            <a:ext cx="347472" cy="36576"/>
          </a:xfrm>
          <a:prstGeom prst="rect">
            <a:avLst/>
          </a:prstGeom>
          <a:solidFill>
            <a:srgbClr val="1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024128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A4E42"/>
                </a:solidFill>
                <a:latin typeface="Aptos"/>
              </a:defRPr>
            </a:pPr>
            <a:r>
              <a:t>VALIDATION, NOT FICTION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10789920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092320"/>
                </a:solidFill>
                <a:latin typeface="Aptos"/>
              </a:defRPr>
            </a:pPr>
            <a:r>
              <a:t>Next: test with SHGs, not just with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53796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87E71"/>
                </a:solidFill>
                <a:latin typeface="Aptos"/>
              </a:defRPr>
            </a:pPr>
            <a:r>
              <a:t>Prototype · fictional demo records · no banking integrations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3639312" cy="2048256"/>
          </a:xfrm>
          <a:prstGeom prst="roundRect">
            <a:avLst>
              <a:gd name="adj" fmla="val 8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017520"/>
            <a:ext cx="594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A4E42"/>
                </a:solidFill>
                <a:latin typeface="Aptos"/>
              </a:defRPr>
            </a:pPr>
            <a:r>
              <a:t>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685032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92320"/>
                </a:solidFill>
                <a:latin typeface="Aptos"/>
              </a:defRPr>
            </a:pPr>
            <a:r>
              <a:t>QUOTE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87952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87E71"/>
                </a:solidFill>
                <a:latin typeface="Aptos"/>
              </a:defRPr>
            </a:pPr>
            <a:r>
              <a:t>Minutes saved in costing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2788920"/>
            <a:ext cx="3639312" cy="2048256"/>
          </a:xfrm>
          <a:prstGeom prst="roundRect">
            <a:avLst>
              <a:gd name="adj" fmla="val 8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017520"/>
            <a:ext cx="594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A4E42"/>
                </a:solidFill>
                <a:latin typeface="Aptos"/>
              </a:defRPr>
            </a:pPr>
            <a:r>
              <a:t>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685032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92320"/>
                </a:solidFill>
                <a:latin typeface="Aptos"/>
              </a:defRPr>
            </a:pPr>
            <a:r>
              <a:t>ORDER 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187952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87E71"/>
                </a:solidFill>
                <a:latin typeface="Aptos"/>
              </a:defRPr>
            </a:pPr>
            <a:r>
              <a:t>Late or rejected order 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2788920"/>
            <a:ext cx="3639312" cy="2048256"/>
          </a:xfrm>
          <a:prstGeom prst="roundRect">
            <a:avLst>
              <a:gd name="adj" fmla="val 8000"/>
            </a:avLst>
          </a:prstGeom>
          <a:solidFill>
            <a:srgbClr val="FD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3017520"/>
            <a:ext cx="594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A4E42"/>
                </a:solidFill>
                <a:latin typeface="Aptos"/>
              </a:defRPr>
            </a:pPr>
            <a:r>
              <a:t>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3685032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92320"/>
                </a:solidFill>
                <a:latin typeface="Aptos"/>
              </a:defRPr>
            </a:pPr>
            <a:r>
              <a:t>WAGE CLARITY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4187952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87E71"/>
                </a:solidFill>
                <a:latin typeface="Aptos"/>
              </a:defRPr>
            </a:pPr>
            <a:r>
              <a:t>Member comprehension + disputes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5248656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A4E42"/>
                </a:solidFill>
                <a:latin typeface="Aptos"/>
              </a:defRPr>
            </a:pPr>
            <a:r>
              <a:t>Evidence status: no real pilot interviews or outcome improvements claimed yet.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C8F279"/>
                </a:solidFill>
                <a:latin typeface="Aptos"/>
              </a:defRPr>
            </a:pPr>
            <a:r>
              <a:t>DHAAGAPROOF  /  TECH4BHARAT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320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A2BCB0"/>
                </a:solidFill>
                <a:latin typeface="Aptos"/>
              </a:defRPr>
            </a:pPr>
            <a:r>
              <a:t>08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822960"/>
            <a:ext cx="347472" cy="36576"/>
          </a:xfrm>
          <a:prstGeom prst="rect">
            <a:avLst/>
          </a:prstGeom>
          <a:solidFill>
            <a:srgbClr val="C8F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024128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C8F279"/>
                </a:solidFill>
                <a:latin typeface="Aptos"/>
              </a:defRPr>
            </a:pPr>
            <a:r>
              <a:t>THE BIGGER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10789920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FDFFFB"/>
                </a:solidFill>
                <a:latin typeface="Aptos"/>
              </a:defRPr>
            </a:pPr>
            <a:r>
              <a:t>Fair pay should not depend on blind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53796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2BCB0"/>
                </a:solidFill>
                <a:latin typeface="Aptos"/>
              </a:defRPr>
            </a:pPr>
            <a:r>
              <a:t>Prototype · fictional demo records · no banking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99008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C8F279"/>
                </a:solidFill>
                <a:latin typeface="Aptos"/>
              </a:defRPr>
            </a:pPr>
            <a:r>
              <a:t>Today: an inspectable local prototype.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749039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DFFFB"/>
                </a:solidFill>
                <a:latin typeface="Aptos"/>
              </a:defRPr>
            </a:pPr>
            <a:r>
              <a:t>Tomorrow: field-tested access, member dispute rights, offline voice and measured impact.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522976"/>
            <a:ext cx="4389120" cy="530352"/>
          </a:xfrm>
          <a:prstGeom prst="roundRect">
            <a:avLst>
              <a:gd name="adj" fmla="val 15000"/>
            </a:avLst>
          </a:prstGeom>
          <a:solidFill>
            <a:srgbClr val="C8F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63270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092320"/>
                </a:solidFill>
                <a:latin typeface="Aptos"/>
              </a:defRPr>
            </a:pPr>
            <a:r>
              <a:t>DHAAGAPROOF AI  →  BUILD FOR BHARAT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